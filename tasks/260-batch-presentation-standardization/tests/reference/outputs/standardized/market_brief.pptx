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Id1"/>
  </p:sldMasterIdLst>
  <p:sldIdLst>
    <p:sldId id="256" r:id="rId5"/>
    <p:sldId id="257" r:id="rId6"/>
    <p:sldId id="258" r:id="rId7"/>
  </p:sldIdLst>
  <p:sldSz cx="12192000" cy="6858000" type="screen16x9"/>
  <p:notesSz cx="6858000" cy="9144000"/>
</p:presentation>
</file>

<file path=ppt/presProps.xml><?xml version="1.0" encoding="utf-8"?>
<p:presentationPr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ableStyles" Target="tableStyles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1" r:id="rId1"/>
  </p:sldLayoutIdLst>
  <p:txStyles/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__s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2F6BFF"/>
          </a:solidFill>
        </p:spPr>
      </p:sp>
      <p:sp>
        <p:nvSpPr>
          <p:cNvPr id="3" name="TITLE__s1"/>
          <p:cNvSpPr/>
          <p:nvPr/>
        </p:nvSpPr>
        <p:spPr>
          <a:xfrm>
            <a:off x="720000" y="430000"/>
            <a:ext cx="10500000" cy="900000"/>
          </a:xfrm>
          <a:prstGeom prst="rect">
            <a:avLst/>
          </a:prstGeom>
          <a:noFill/>
        </p:spPr>
        <p:txBody>
          <a:bodyPr anchor="ctr"/>
          <a:lstStyle/>
          <a:p>
            <a:pPr algn="l"/>
            <a:r>
              <a:rPr lang="zh-CN" sz="2800" b="1">
                <a:latin typeface="Noto Sans SC"/>
                <a:ea typeface="Noto Sans SC"/>
                <a:cs typeface="Noto Sans SC"/>
                <a:solidFill>
                  <a:srgbClr val="17365D"/>
                </a:solidFill>
              </a:rPr>
              <a:t>消费观察：用户更重视可直接交付</a:t>
            </a:r>
            <a:endParaRPr lang="zh-CN" sz="2800" b="1">
              <a:solidFill>
                <a:srgbClr val="17365D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4" name="BODY__s1"/>
          <p:cNvSpPr/>
          <p:nvPr/>
        </p:nvSpPr>
        <p:spPr>
          <a:xfrm>
            <a:off x="720000" y="1650000"/>
            <a:ext cx="10500000" cy="3900000"/>
          </a:xfrm>
          <a:prstGeom prst="rect">
            <a:avLst/>
          </a:prstGeom>
          <a:noFill/>
        </p:spPr>
        <p:txBody>
          <a:bodyPr anchor="t"/>
          <a:lstStyle/>
          <a:p>
            <a:pPr algn="l"/>
            <a:r>
              <a:rPr lang="zh-CN" sz="1800" b="0">
                <a:latin typeface="Noto Sans SC"/>
                <a:ea typeface="Noto Sans SC"/>
                <a:cs typeface="Noto Sans SC"/>
                <a:solidFill>
                  <a:srgbClr val="333333"/>
                </a:solidFill>
              </a:rPr>
              <a:t>访谈样本显示，用户希望减少格式返工。</a:t>
            </a:r>
            <a:endParaRPr lang="zh-CN" sz="1800" b="0">
              <a:solidFill>
                <a:srgbClr val="333333"/>
              </a:solidFill>
              <a:latin typeface="Noto Sans SC"/>
              <a:ea typeface="Noto Sans SC"/>
              <a:cs typeface="Noto Sans SC"/>
            </a:endParaRPr>
          </a:p>
          <a:p>
            <a:pPr algn="l"/>
            <a:r>
              <a:rPr lang="zh-CN" sz="1800" b="0">
                <a:latin typeface="Noto Sans SC"/>
                <a:ea typeface="Noto Sans SC"/>
                <a:cs typeface="Noto Sans SC"/>
                <a:solidFill>
                  <a:srgbClr val="333333"/>
                </a:solidFill>
              </a:rPr>
              <a:t>本页仅陈述合成研究结论，不代表真实业务数据。</a:t>
            </a:r>
            <a:endParaRPr lang="zh-CN" sz="1800" b="0">
              <a:solidFill>
                <a:srgbClr val="333333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5" name="FOOTER__s1"/>
          <p:cNvSpPr/>
          <p:nvPr/>
        </p:nvSpPr>
        <p:spPr>
          <a:xfrm>
            <a:off x="720000" y="6220000"/>
            <a:ext cx="10500000" cy="300000"/>
          </a:xfrm>
          <a:prstGeom prst="rect">
            <a:avLst/>
          </a:prstGeom>
          <a:noFill/>
        </p:spPr>
        <p:txBody>
          <a:bodyPr anchor="ctr"/>
          <a:lstStyle/>
          <a:p>
            <a:pPr algn="r"/>
            <a:r>
              <a:rPr lang="zh-CN" sz="900" b="0">
                <a:latin typeface="Noto Sans SC"/>
                <a:ea typeface="Noto Sans SC"/>
                <a:cs typeface="Noto Sans SC"/>
                <a:solidFill>
                  <a:srgbClr val="6B7280"/>
                </a:solidFill>
              </a:rPr>
              <a:t>纳米 Work｜内部演示｜01</a:t>
            </a:r>
            <a:endParaRPr lang="zh-CN" sz="900" b="0">
              <a:solidFill>
                <a:srgbClr val="6B7280"/>
              </a:solidFill>
              <a:latin typeface="Noto Sans SC"/>
              <a:ea typeface="Noto Sans SC"/>
              <a:cs typeface="Noto Sans S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__s2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2F6BFF"/>
          </a:solidFill>
        </p:spPr>
      </p:sp>
      <p:sp>
        <p:nvSpPr>
          <p:cNvPr id="3" name="TITLE__s2"/>
          <p:cNvSpPr/>
          <p:nvPr/>
        </p:nvSpPr>
        <p:spPr>
          <a:xfrm>
            <a:off x="720000" y="430000"/>
            <a:ext cx="10500000" cy="900000"/>
          </a:xfrm>
          <a:prstGeom prst="rect">
            <a:avLst/>
          </a:prstGeom>
          <a:noFill/>
        </p:spPr>
        <p:txBody>
          <a:bodyPr anchor="ctr"/>
          <a:lstStyle/>
          <a:p>
            <a:pPr algn="l"/>
            <a:r>
              <a:rPr lang="zh-CN" sz="2800" b="1">
                <a:latin typeface="Noto Sans SC"/>
                <a:ea typeface="Noto Sans SC"/>
                <a:cs typeface="Noto Sans SC"/>
                <a:solidFill>
                  <a:srgbClr val="17365D"/>
                </a:solidFill>
              </a:rPr>
              <a:t>三类高频交付</a:t>
            </a:r>
            <a:endParaRPr lang="zh-CN" sz="2800" b="1">
              <a:solidFill>
                <a:srgbClr val="17365D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4" name="BODY__s2"/>
          <p:cNvSpPr/>
          <p:nvPr/>
        </p:nvSpPr>
        <p:spPr>
          <a:xfrm>
            <a:off x="720000" y="1650000"/>
            <a:ext cx="10500000" cy="3900000"/>
          </a:xfrm>
          <a:prstGeom prst="rect">
            <a:avLst/>
          </a:prstGeom>
          <a:noFill/>
        </p:spPr>
        <p:txBody>
          <a:bodyPr anchor="t"/>
          <a:lstStyle/>
          <a:p>
            <a:pPr algn="l"/>
            <a:r>
              <a:rPr lang="zh-CN" sz="1800" b="0">
                <a:latin typeface="Noto Sans SC"/>
                <a:ea typeface="Noto Sans SC"/>
                <a:cs typeface="Noto Sans SC"/>
                <a:solidFill>
                  <a:srgbClr val="333333"/>
                </a:solidFill>
              </a:rPr>
              <a:t>报告：要求结构清楚、引用完整。</a:t>
            </a:r>
            <a:endParaRPr lang="zh-CN" sz="1800" b="0">
              <a:solidFill>
                <a:srgbClr val="333333"/>
              </a:solidFill>
              <a:latin typeface="Noto Sans SC"/>
              <a:ea typeface="Noto Sans SC"/>
              <a:cs typeface="Noto Sans SC"/>
            </a:endParaRPr>
          </a:p>
          <a:p>
            <a:pPr algn="l"/>
            <a:r>
              <a:rPr lang="zh-CN" sz="1800" b="0">
                <a:latin typeface="Noto Sans SC"/>
                <a:ea typeface="Noto Sans SC"/>
                <a:cs typeface="Noto Sans SC"/>
                <a:solidFill>
                  <a:srgbClr val="333333"/>
                </a:solidFill>
              </a:rPr>
              <a:t>演示：要求版式统一、可直接汇报。</a:t>
            </a:r>
            <a:endParaRPr lang="zh-CN" sz="1800" b="0">
              <a:solidFill>
                <a:srgbClr val="333333"/>
              </a:solidFill>
              <a:latin typeface="Noto Sans SC"/>
              <a:ea typeface="Noto Sans SC"/>
              <a:cs typeface="Noto Sans SC"/>
            </a:endParaRPr>
          </a:p>
          <a:p>
            <a:pPr algn="l"/>
            <a:r>
              <a:rPr lang="zh-CN" sz="1800" b="0">
                <a:latin typeface="Noto Sans SC"/>
                <a:ea typeface="Noto Sans SC"/>
                <a:cs typeface="Noto Sans SC"/>
                <a:solidFill>
                  <a:srgbClr val="333333"/>
                </a:solidFill>
              </a:rPr>
              <a:t>表格：要求公式可复核、字段可追溯。</a:t>
            </a:r>
            <a:endParaRPr lang="zh-CN" sz="1800" b="0">
              <a:solidFill>
                <a:srgbClr val="333333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5" name="FOOTER__s2"/>
          <p:cNvSpPr/>
          <p:nvPr/>
        </p:nvSpPr>
        <p:spPr>
          <a:xfrm>
            <a:off x="720000" y="6220000"/>
            <a:ext cx="10500000" cy="300000"/>
          </a:xfrm>
          <a:prstGeom prst="rect">
            <a:avLst/>
          </a:prstGeom>
          <a:noFill/>
        </p:spPr>
        <p:txBody>
          <a:bodyPr anchor="ctr"/>
          <a:lstStyle/>
          <a:p>
            <a:pPr algn="r"/>
            <a:r>
              <a:rPr lang="zh-CN" sz="900" b="0">
                <a:latin typeface="Noto Sans SC"/>
                <a:ea typeface="Noto Sans SC"/>
                <a:cs typeface="Noto Sans SC"/>
                <a:solidFill>
                  <a:srgbClr val="6B7280"/>
                </a:solidFill>
              </a:rPr>
              <a:t>纳米 Work｜内部演示｜02</a:t>
            </a:r>
            <a:endParaRPr lang="zh-CN" sz="900" b="0">
              <a:solidFill>
                <a:srgbClr val="6B7280"/>
              </a:solidFill>
              <a:latin typeface="Noto Sans SC"/>
              <a:ea typeface="Noto Sans SC"/>
              <a:cs typeface="Noto Sans S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__s3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2F6BFF"/>
          </a:solidFill>
        </p:spPr>
      </p:sp>
      <p:sp>
        <p:nvSpPr>
          <p:cNvPr id="3" name="TITLE__s3"/>
          <p:cNvSpPr/>
          <p:nvPr/>
        </p:nvSpPr>
        <p:spPr>
          <a:xfrm>
            <a:off x="720000" y="430000"/>
            <a:ext cx="10500000" cy="900000"/>
          </a:xfrm>
          <a:prstGeom prst="rect">
            <a:avLst/>
          </a:prstGeom>
          <a:noFill/>
        </p:spPr>
        <p:txBody>
          <a:bodyPr anchor="ctr"/>
          <a:lstStyle/>
          <a:p>
            <a:pPr algn="l"/>
            <a:r>
              <a:rPr lang="zh-CN" sz="2800" b="1">
                <a:latin typeface="Noto Sans SC"/>
                <a:ea typeface="Noto Sans SC"/>
                <a:cs typeface="Noto Sans SC"/>
                <a:solidFill>
                  <a:srgbClr val="17365D"/>
                </a:solidFill>
              </a:rPr>
              <a:t>下一步：用小范围验证校准</a:t>
            </a:r>
            <a:endParaRPr lang="zh-CN" sz="2800" b="1">
              <a:solidFill>
                <a:srgbClr val="17365D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4" name="BODY__s3"/>
          <p:cNvSpPr/>
          <p:nvPr/>
        </p:nvSpPr>
        <p:spPr>
          <a:xfrm>
            <a:off x="720000" y="1650000"/>
            <a:ext cx="10500000" cy="3900000"/>
          </a:xfrm>
          <a:prstGeom prst="rect">
            <a:avLst/>
          </a:prstGeom>
          <a:noFill/>
        </p:spPr>
        <p:txBody>
          <a:bodyPr anchor="t"/>
          <a:lstStyle/>
          <a:p>
            <a:pPr algn="l"/>
            <a:r>
              <a:rPr lang="zh-CN" sz="1800" b="0">
                <a:latin typeface="Noto Sans SC"/>
                <a:ea typeface="Noto Sans SC"/>
                <a:cs typeface="Noto Sans SC"/>
                <a:solidFill>
                  <a:srgbClr val="333333"/>
                </a:solidFill>
              </a:rPr>
              <a:t>先验证任务完成率，再决定是否扩大投入。</a:t>
            </a:r>
            <a:endParaRPr lang="zh-CN" sz="1800" b="0">
              <a:solidFill>
                <a:srgbClr val="333333"/>
              </a:solidFill>
              <a:latin typeface="Noto Sans SC"/>
              <a:ea typeface="Noto Sans SC"/>
              <a:cs typeface="Noto Sans SC"/>
            </a:endParaRPr>
          </a:p>
          <a:p>
            <a:pPr algn="l"/>
            <a:r>
              <a:rPr lang="zh-CN" sz="1800" b="0">
                <a:latin typeface="Noto Sans SC"/>
                <a:ea typeface="Noto Sans SC"/>
                <a:cs typeface="Noto Sans SC"/>
                <a:solidFill>
                  <a:srgbClr val="333333"/>
                </a:solidFill>
              </a:rPr>
              <a:t>所有示例、数字和结论均为合成素材。</a:t>
            </a:r>
            <a:endParaRPr lang="zh-CN" sz="1800" b="0">
              <a:solidFill>
                <a:srgbClr val="333333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5" name="FOOTER__s3"/>
          <p:cNvSpPr/>
          <p:nvPr/>
        </p:nvSpPr>
        <p:spPr>
          <a:xfrm>
            <a:off x="720000" y="6220000"/>
            <a:ext cx="10500000" cy="300000"/>
          </a:xfrm>
          <a:prstGeom prst="rect">
            <a:avLst/>
          </a:prstGeom>
          <a:noFill/>
        </p:spPr>
        <p:txBody>
          <a:bodyPr anchor="ctr"/>
          <a:lstStyle/>
          <a:p>
            <a:pPr algn="r"/>
            <a:r>
              <a:rPr lang="zh-CN" sz="900" b="0">
                <a:latin typeface="Noto Sans SC"/>
                <a:ea typeface="Noto Sans SC"/>
                <a:cs typeface="Noto Sans SC"/>
                <a:solidFill>
                  <a:srgbClr val="6B7280"/>
                </a:solidFill>
              </a:rPr>
              <a:t>纳米 Work｜内部演示｜03</a:t>
            </a:r>
            <a:endParaRPr lang="zh-CN" sz="900" b="0">
              <a:solidFill>
                <a:srgbClr val="6B7280"/>
              </a:solidFill>
              <a:latin typeface="Noto Sans SC"/>
              <a:ea typeface="Noto Sans SC"/>
              <a:cs typeface="Noto Sans S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ynthetic">
  <a:themeElements>
    <a:clrScheme name="Synthetic">
      <a:dk1>
        <a:srgbClr val="000000"/>
      </a:dk1>
      <a:lt1>
        <a:srgbClr val="FFFFFF"/>
      </a:lt1>
      <a:dk2>
        <a:srgbClr val="17365D"/>
      </a:dk2>
      <a:lt2>
        <a:srgbClr val="F7F9FC"/>
      </a:lt2>
      <a:accent1>
        <a:srgbClr val="2F6BFF"/>
      </a:accent1>
      <a:accent2>
        <a:srgbClr val="70AD47"/>
      </a:accent2>
      <a:accent3>
        <a:srgbClr val="C55A11"/>
      </a:accent3>
      <a:accent4>
        <a:srgbClr val="7030A0"/>
      </a:accent4>
      <a:accent5>
        <a:srgbClr val="5B9BD5"/>
      </a:accent5>
      <a:accent6>
        <a:srgbClr val="ED7D31"/>
      </a:accent6>
      <a:hlink>
        <a:srgbClr val="0563C1"/>
      </a:hlink>
      <a:folHlink>
        <a:srgbClr val="954F72"/>
      </a:folHlink>
    </a:clrScheme>
    <a:fontScheme name="Synthetic">
      <a:majorFont>
        <a:latin typeface="Noto Sans SC"/>
        <a:ea typeface="Noto Sans SC"/>
        <a:cs typeface="Noto Sans SC"/>
      </a:majorFont>
      <a:minorFont>
        <a:latin typeface="Noto Sans SC"/>
        <a:ea typeface="Noto Sans SC"/>
        <a:cs typeface="Noto Sans SC"/>
      </a:minorFont>
    </a:fontScheme>
    <a:fmtScheme name="Synthetic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agent_sft</Application>
  <Slides>3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case_06 synthetic deck</dc:title>
  <dc:creator>agent_sft</dc:creator>
  <dcterms:created xsi:type="dcterms:W3CDTF">2026-07-20T00:00:00Z</dcterms:created>
  <dcterms:modified xsi:type="dcterms:W3CDTF">2026-07-20T00:00:00Z</dcterms:modified>
</cp:coreProperties>
</file>