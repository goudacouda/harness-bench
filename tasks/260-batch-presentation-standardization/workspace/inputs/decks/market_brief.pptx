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</p:sldIdLst>
  <p:sldSz cx="9144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5F59"/>
          </a:solidFill>
        </p:spPr>
      </p:sp>
      <p:sp>
        <p:nvSpPr>
          <p:cNvPr id="3" name="TITLE__s1"/>
          <p:cNvSpPr/>
          <p:nvPr/>
        </p:nvSpPr>
        <p:spPr>
          <a:xfrm>
            <a:off x="380000" y="25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2400" b="1">
                <a:solidFill>
                  <a:srgbClr val="9C2A2A"/>
                </a:solidFill>
                <a:latin typeface="Arial"/>
                <a:ea typeface="Arial"/>
                <a:cs typeface="Arial"/>
              </a:rPr>
              <a:t>消费观察：用户更重视可直接交付</a:t>
            </a:r>
            <a:endParaRPr lang="zh-CN" sz="2400"/>
          </a:p>
        </p:txBody>
      </p:sp>
      <p:sp>
        <p:nvSpPr>
          <p:cNvPr id="4" name="BODY__s1"/>
          <p:cNvSpPr/>
          <p:nvPr/>
        </p:nvSpPr>
        <p:spPr>
          <a:xfrm>
            <a:off x="650000" y="1550000"/>
            <a:ext cx="7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访谈样本显示，用户希望减少格式返工。</a:t>
            </a:r>
            <a:endParaRPr lang="zh-CN" sz="1400"/>
          </a:p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本页仅陈述合成研究结论，不代表真实业务数据。</a:t>
            </a:r>
            <a:endParaRPr lang="zh-CN" sz="1400"/>
          </a:p>
        </p:txBody>
      </p:sp>
      <p:sp>
        <p:nvSpPr>
          <p:cNvPr id="5" name="FOOTER__s1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80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原始页脚-1-1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5F59"/>
          </a:solidFill>
        </p:spPr>
      </p:sp>
      <p:sp>
        <p:nvSpPr>
          <p:cNvPr id="3" name="TITLE__s2"/>
          <p:cNvSpPr/>
          <p:nvPr/>
        </p:nvSpPr>
        <p:spPr>
          <a:xfrm>
            <a:off x="380000" y="25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2400" b="1">
                <a:solidFill>
                  <a:srgbClr val="9C2A2A"/>
                </a:solidFill>
                <a:latin typeface="Arial"/>
                <a:ea typeface="Arial"/>
                <a:cs typeface="Arial"/>
              </a:rPr>
              <a:t>三类高频交付</a:t>
            </a:r>
            <a:endParaRPr lang="zh-CN" sz="2400"/>
          </a:p>
        </p:txBody>
      </p:sp>
      <p:sp>
        <p:nvSpPr>
          <p:cNvPr id="4" name="BODY__s2"/>
          <p:cNvSpPr/>
          <p:nvPr/>
        </p:nvSpPr>
        <p:spPr>
          <a:xfrm>
            <a:off x="650000" y="1550000"/>
            <a:ext cx="7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报告：要求结构清楚、引用完整。</a:t>
            </a:r>
            <a:endParaRPr lang="zh-CN" sz="1400"/>
          </a:p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演示：要求版式统一、可直接汇报。</a:t>
            </a:r>
            <a:endParaRPr lang="zh-CN" sz="1400"/>
          </a:p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表格：要求公式可复核、字段可追溯。</a:t>
            </a:r>
            <a:endParaRPr lang="zh-CN" sz="1400"/>
          </a:p>
        </p:txBody>
      </p:sp>
      <p:sp>
        <p:nvSpPr>
          <p:cNvPr id="5" name="FOOTER__s2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80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原始页脚-1-2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D95F59"/>
          </a:solidFill>
        </p:spPr>
      </p:sp>
      <p:sp>
        <p:nvSpPr>
          <p:cNvPr id="3" name="TITLE__s3"/>
          <p:cNvSpPr/>
          <p:nvPr/>
        </p:nvSpPr>
        <p:spPr>
          <a:xfrm>
            <a:off x="380000" y="25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2400" b="1">
                <a:solidFill>
                  <a:srgbClr val="9C2A2A"/>
                </a:solidFill>
                <a:latin typeface="Arial"/>
                <a:ea typeface="Arial"/>
                <a:cs typeface="Arial"/>
              </a:rPr>
              <a:t>下一步：用小范围验证校准</a:t>
            </a:r>
            <a:endParaRPr lang="zh-CN" sz="2400"/>
          </a:p>
        </p:txBody>
      </p:sp>
      <p:sp>
        <p:nvSpPr>
          <p:cNvPr id="4" name="BODY__s3"/>
          <p:cNvSpPr/>
          <p:nvPr/>
        </p:nvSpPr>
        <p:spPr>
          <a:xfrm>
            <a:off x="650000" y="1550000"/>
            <a:ext cx="7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先验证任务完成率，再决定是否扩大投入。</a:t>
            </a:r>
            <a:endParaRPr lang="zh-CN" sz="1400"/>
          </a:p>
          <a:p>
            <a:pPr algn="l"/>
            <a:r>
              <a:rPr lang="zh-CN" sz="140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所有示例、数字和结论均为合成素材。</a:t>
            </a:r>
            <a:endParaRPr lang="zh-CN" sz="1400"/>
          </a:p>
        </p:txBody>
      </p:sp>
      <p:sp>
        <p:nvSpPr>
          <p:cNvPr id="5" name="FOOTER__s3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800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原始页脚-1-3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