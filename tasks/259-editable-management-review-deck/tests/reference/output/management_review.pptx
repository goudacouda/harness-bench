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>
      <a:defRPr lang="zh-CN">
        <a:latin typeface="Noto Sans SC"/>
        <a:ea typeface="Noto Sans SC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>
      <a:lvl1pPr algn="l">
        <a:defRPr sz="2800" b="1">
          <a:latin typeface="Noto Sans SC"/>
          <a:ea typeface="Noto Sans SC"/>
        </a:defRPr>
      </a:lvl1pPr>
    </p:titleStyle>
    <p:bodyStyle>
      <a:lvl1pPr>
        <a:defRPr sz="1800">
          <a:latin typeface="Noto Sans SC"/>
          <a:ea typeface="Noto Sans SC"/>
        </a:defRPr>
      </a:lvl1pPr>
    </p:bodyStyle>
    <p:otherStyle>
      <a:defPPr>
        <a:defRPr lang="zh-CN">
          <a:latin typeface="Noto Sans SC"/>
          <a:ea typeface="Noto Sans SC"/>
        </a:defRPr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第二季度收入完成 95.5%，八周内优先修复交付与退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 descr="role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" descr="role:title"/>
          <p:cNvSpPr txBox="1"/>
          <p:nvPr/>
        </p:nvSpPr>
        <p:spPr>
          <a:xfrm>
            <a:off x="620000" y="300000"/>
            <a:ext cx="109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2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第二季度收入完成 95.5%，八周内优先修复交付与退货</a:t>
            </a:r>
            <a:endParaRPr lang="zh-CN" sz="2800"/>
          </a:p>
        </p:txBody>
      </p:sp>
      <p:sp>
        <p:nvSpPr>
          <p:cNvPr id="4" name="Subtitle" descr="role:subtitle"/>
          <p:cNvSpPr txBox="1"/>
          <p:nvPr/>
        </p:nvSpPr>
        <p:spPr>
          <a:xfrm>
            <a:off x="650000" y="1120000"/>
            <a:ext cx="109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1700" dirty="0">
                <a:solidFill>
                  <a:srgbClr val="475467"/>
                </a:solidFill>
                <a:latin typeface="Noto Sans SC"/>
                <a:ea typeface="Noto Sans SC"/>
                <a:cs typeface="Noto Sans SC"/>
              </a:rPr>
              <a:t xml:space="preserve">星桥家居 2026 年第二季度经营复盘｜全部数据为合成材料</a:t>
            </a:r>
            <a:endParaRPr lang="zh-CN" sz="1700"/>
          </a:p>
        </p:txBody>
      </p:sp>
      <p:sp>
        <p:nvSpPr>
          <p:cNvPr id="5" name="KPI 1" descr="role:kpi|index=1"/>
          <p:cNvSpPr txBox="1"/>
          <p:nvPr/>
        </p:nvSpPr>
        <p:spPr>
          <a:xfrm>
            <a:off x="650000" y="1850000"/>
            <a:ext cx="3250000" cy="14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95.5%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收入完成率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缺口 54 万元</a:t>
            </a:r>
            <a:endParaRPr lang="zh-CN" sz="2000"/>
          </a:p>
        </p:txBody>
      </p:sp>
      <p:sp>
        <p:nvSpPr>
          <p:cNvPr id="6" name="KPI 2" descr="role:kpi|index=2"/>
          <p:cNvSpPr txBox="1"/>
          <p:nvPr/>
        </p:nvSpPr>
        <p:spPr>
          <a:xfrm>
            <a:off x="4370000" y="1850000"/>
            <a:ext cx="3250000" cy="14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9009"/>
            </a:solidFill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36.4%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综合毛利率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低于计划 1.6 个百分点</a:t>
            </a:r>
            <a:endParaRPr lang="zh-CN" sz="2000"/>
          </a:p>
        </p:txBody>
      </p:sp>
      <p:sp>
        <p:nvSpPr>
          <p:cNvPr id="7" name="KPI 3" descr="role:kpi|index=3"/>
          <p:cNvSpPr txBox="1"/>
          <p:nvPr/>
        </p:nvSpPr>
        <p:spPr>
          <a:xfrm>
            <a:off x="8090000" y="1850000"/>
            <a:ext cx="3250000" cy="14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2D20"/>
            </a:solidFill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92.8%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按时交付率</a:t>
            </a:r>
            <a:endParaRPr lang="zh-CN" sz="2000"/>
          </a:p>
          <a:p>
            <a:pPr algn="l"/>
            <a:r>
              <a:rPr lang="zh-CN" sz="20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低于目标 3.2 个百分点</a:t>
            </a:r>
            <a:endParaRPr lang="zh-CN" sz="2000"/>
          </a:p>
        </p:txBody>
      </p:sp>
      <p:sp>
        <p:nvSpPr>
          <p:cNvPr id="8" name="Focus" descr="role:conclusion"/>
          <p:cNvSpPr txBox="1"/>
          <p:nvPr/>
        </p:nvSpPr>
        <p:spPr>
          <a:xfrm>
            <a:off x="650000" y="3780000"/>
            <a:ext cx="10900000" cy="1500000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txBody>
          <a:bodyPr wrap="square" lIns="240000" tIns="240000" rIns="240000" bIns="240000" anchor="ctr"/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本次复盘只做三件事</a:t>
            </a:r>
            <a:endParaRPr lang="zh-CN" sz="2100"/>
          </a:p>
          <a:p>
            <a:pPr algn="l"/>
            <a:r>
              <a:rPr lang="zh-CN" sz="21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1）补齐西部交付能力　2）降低华北退货　3）守住促销毛利底线</a:t>
            </a:r>
            <a:endParaRPr lang="zh-CN" sz="2100"/>
          </a:p>
        </p:txBody>
      </p:sp>
      <p:sp>
        <p:nvSpPr>
          <p:cNvPr id="9" name="Boundary" descr="role:boundary"/>
          <p:cNvSpPr txBox="1"/>
          <p:nvPr/>
        </p:nvSpPr>
        <p:spPr>
          <a:xfrm>
            <a:off x="650000" y="5560000"/>
            <a:ext cx="10900000" cy="5200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l"/>
            <a:r>
              <a:rPr lang="zh-CN" sz="1500" dirty="0">
                <a:solidFill>
                  <a:srgbClr val="475467"/>
                </a:solidFill>
                <a:latin typeface="Noto Sans SC"/>
                <a:ea typeface="Noto Sans SC"/>
                <a:cs typeface="Noto Sans SC"/>
              </a:rPr>
              <a:t xml:space="preserve">边界：原报告没有八周后的收入预测，本演示不补造预测值。</a:t>
            </a:r>
            <a:endParaRPr lang="zh-CN" sz="1500"/>
          </a:p>
        </p:txBody>
      </p:sp>
      <p:sp>
        <p:nvSpPr>
          <p:cNvPr id="10" name="Source" descr="role:source"/>
          <p:cNvSpPr txBox="1"/>
          <p:nvPr/>
        </p:nvSpPr>
        <p:spPr>
          <a:xfrm>
            <a:off x="650000" y="639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dirty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 xml:space="preserve">来源：metrics.csv 与 report.md（合成）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收入完成 95.5%，区域缺口集中在西部和华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 descr="role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" descr="role:title"/>
          <p:cNvSpPr txBox="1"/>
          <p:nvPr/>
        </p:nvSpPr>
        <p:spPr>
          <a:xfrm>
            <a:off x="620000" y="300000"/>
            <a:ext cx="109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2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收入完成 95.5%，区域缺口集中在西部和华北</a:t>
            </a:r>
            <a:endParaRPr lang="zh-CN" sz="2800"/>
          </a:p>
        </p:txBody>
      </p:sp>
      <p:sp>
        <p:nvSpPr>
          <p:cNvPr id="4" name="Total" descr="role:summary"/>
          <p:cNvSpPr txBox="1"/>
          <p:nvPr/>
        </p:nvSpPr>
        <p:spPr>
          <a:xfrm>
            <a:off x="690000" y="1070000"/>
            <a:ext cx="225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txBody>
          <a:bodyPr wrap="square" lIns="100000" tIns="100000" rIns="100000" bIns="10000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计划 1,200 万元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实际 1,146 万元</a:t>
            </a:r>
            <a:endParaRPr lang="zh-CN" sz="1700"/>
          </a:p>
        </p:txBody>
      </p:sp>
      <p:sp>
        <p:nvSpPr>
          <p:cNvPr id="5" name="Region 华东" descr="role:category|scope=华东"/>
          <p:cNvSpPr txBox="1"/>
          <p:nvPr/>
        </p:nvSpPr>
        <p:spPr>
          <a:xfrm>
            <a:off x="720000" y="1150000"/>
            <a:ext cx="1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华东</a:t>
            </a:r>
            <a:endParaRPr lang="zh-CN" sz="1700"/>
          </a:p>
        </p:txBody>
      </p:sp>
      <p:sp>
        <p:nvSpPr>
          <p:cNvPr id="6" name="Plan bar 华东" descr="chart_bar|metric=revenue|scope=华东|series=plan|value=330|max=360"/>
          <p:cNvSpPr/>
          <p:nvPr/>
        </p:nvSpPr>
        <p:spPr>
          <a:xfrm>
            <a:off x="3250000" y="1150000"/>
            <a:ext cx="6050000" cy="190000"/>
          </a:xfrm>
          <a:prstGeom prst="roundRect">
            <a:avLst/>
          </a:prstGeom>
          <a:solidFill>
            <a:srgbClr val="B2CCFF"/>
          </a:solidFill>
          <a:ln>
            <a:noFill/>
          </a:ln>
        </p:spPr>
      </p:sp>
      <p:sp>
        <p:nvSpPr>
          <p:cNvPr id="7" name="Actual bar 华东" descr="chart_bar|metric=revenue|scope=华东|series=actual|value=348|max=360"/>
          <p:cNvSpPr/>
          <p:nvPr/>
        </p:nvSpPr>
        <p:spPr>
          <a:xfrm>
            <a:off x="3250000" y="1400000"/>
            <a:ext cx="6380000" cy="190000"/>
          </a:xfrm>
          <a:prstGeom prst="roundRect">
            <a:avLst/>
          </a:prstGeom>
          <a:solidFill>
            <a:srgbClr val="039855"/>
          </a:solidFill>
          <a:ln>
            <a:noFill/>
          </a:ln>
        </p:spPr>
      </p:sp>
      <p:sp>
        <p:nvSpPr>
          <p:cNvPr id="8" name="Region value 华东" descr="role:chart_label|scope=华东"/>
          <p:cNvSpPr txBox="1"/>
          <p:nvPr/>
        </p:nvSpPr>
        <p:spPr>
          <a:xfrm>
            <a:off x="10050000" y="1130000"/>
            <a:ext cx="14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400" b="1" dirty="0">
                <a:solidFill>
                  <a:srgbClr val="039855"/>
                </a:solidFill>
                <a:latin typeface="Noto Sans SC"/>
                <a:ea typeface="Noto Sans SC"/>
                <a:cs typeface="Noto Sans SC"/>
              </a:rPr>
              <a:t xml:space="preserve">105.5%</a:t>
            </a:r>
            <a:endParaRPr lang="zh-CN" sz="1400"/>
          </a:p>
          <a:p>
            <a:pPr algn="r"/>
            <a:r>
              <a:rPr lang="zh-CN" sz="1400" b="1" dirty="0">
                <a:solidFill>
                  <a:srgbClr val="039855"/>
                </a:solidFill>
                <a:latin typeface="Noto Sans SC"/>
                <a:ea typeface="Noto Sans SC"/>
                <a:cs typeface="Noto Sans SC"/>
              </a:rPr>
              <a:t xml:space="preserve">+18 万元</a:t>
            </a:r>
            <a:endParaRPr lang="zh-CN" sz="1400"/>
          </a:p>
        </p:txBody>
      </p:sp>
      <p:sp>
        <p:nvSpPr>
          <p:cNvPr id="9" name="Region 华南" descr="role:category|scope=华南"/>
          <p:cNvSpPr txBox="1"/>
          <p:nvPr/>
        </p:nvSpPr>
        <p:spPr>
          <a:xfrm>
            <a:off x="720000" y="2230000"/>
            <a:ext cx="1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华南</a:t>
            </a:r>
            <a:endParaRPr lang="zh-CN" sz="1700"/>
          </a:p>
        </p:txBody>
      </p:sp>
      <p:sp>
        <p:nvSpPr>
          <p:cNvPr id="10" name="Plan bar 华南" descr="chart_bar|metric=revenue|scope=华南|series=plan|value=290|max=360"/>
          <p:cNvSpPr/>
          <p:nvPr/>
        </p:nvSpPr>
        <p:spPr>
          <a:xfrm>
            <a:off x="3250000" y="2230000"/>
            <a:ext cx="5316667" cy="190000"/>
          </a:xfrm>
          <a:prstGeom prst="roundRect">
            <a:avLst/>
          </a:prstGeom>
          <a:solidFill>
            <a:srgbClr val="B2CCFF"/>
          </a:solidFill>
          <a:ln>
            <a:noFill/>
          </a:ln>
        </p:spPr>
      </p:sp>
      <p:sp>
        <p:nvSpPr>
          <p:cNvPr id="11" name="Actual bar 华南" descr="chart_bar|metric=revenue|scope=华南|series=actual|value=272|max=360"/>
          <p:cNvSpPr/>
          <p:nvPr/>
        </p:nvSpPr>
        <p:spPr>
          <a:xfrm>
            <a:off x="3250000" y="2480000"/>
            <a:ext cx="4986667" cy="190000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2" name="Region value 华南" descr="role:chart_label|scope=华南"/>
          <p:cNvSpPr txBox="1"/>
          <p:nvPr/>
        </p:nvSpPr>
        <p:spPr>
          <a:xfrm>
            <a:off x="10050000" y="2210000"/>
            <a:ext cx="14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4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93.8%</a:t>
            </a:r>
            <a:endParaRPr lang="zh-CN" sz="1400"/>
          </a:p>
          <a:p>
            <a:pPr algn="r"/>
            <a:r>
              <a:rPr lang="zh-CN" sz="14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-18 万元</a:t>
            </a:r>
            <a:endParaRPr lang="zh-CN" sz="1400"/>
          </a:p>
        </p:txBody>
      </p:sp>
      <p:sp>
        <p:nvSpPr>
          <p:cNvPr id="13" name="Region 华北" descr="role:category|scope=华北"/>
          <p:cNvSpPr txBox="1"/>
          <p:nvPr/>
        </p:nvSpPr>
        <p:spPr>
          <a:xfrm>
            <a:off x="720000" y="3310000"/>
            <a:ext cx="1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华北</a:t>
            </a:r>
            <a:endParaRPr lang="zh-CN" sz="1700"/>
          </a:p>
        </p:txBody>
      </p:sp>
      <p:sp>
        <p:nvSpPr>
          <p:cNvPr id="14" name="Plan bar 华北" descr="chart_bar|metric=revenue|scope=华北|series=plan|value=310|max=360"/>
          <p:cNvSpPr/>
          <p:nvPr/>
        </p:nvSpPr>
        <p:spPr>
          <a:xfrm>
            <a:off x="3250000" y="3310000"/>
            <a:ext cx="5683333" cy="190000"/>
          </a:xfrm>
          <a:prstGeom prst="roundRect">
            <a:avLst/>
          </a:prstGeom>
          <a:solidFill>
            <a:srgbClr val="B2CCFF"/>
          </a:solidFill>
          <a:ln>
            <a:noFill/>
          </a:ln>
        </p:spPr>
      </p:sp>
      <p:sp>
        <p:nvSpPr>
          <p:cNvPr id="15" name="Actual bar 华北" descr="chart_bar|metric=revenue|scope=华北|series=actual|value=286|max=360"/>
          <p:cNvSpPr/>
          <p:nvPr/>
        </p:nvSpPr>
        <p:spPr>
          <a:xfrm>
            <a:off x="3250000" y="3560000"/>
            <a:ext cx="5243333" cy="190000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6" name="Region value 华北" descr="role:chart_label|scope=华北"/>
          <p:cNvSpPr txBox="1"/>
          <p:nvPr/>
        </p:nvSpPr>
        <p:spPr>
          <a:xfrm>
            <a:off x="10050000" y="3290000"/>
            <a:ext cx="14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4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92.3%</a:t>
            </a:r>
            <a:endParaRPr lang="zh-CN" sz="1400"/>
          </a:p>
          <a:p>
            <a:pPr algn="r"/>
            <a:r>
              <a:rPr lang="zh-CN" sz="14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-24 万元</a:t>
            </a:r>
            <a:endParaRPr lang="zh-CN" sz="1400"/>
          </a:p>
        </p:txBody>
      </p:sp>
      <p:sp>
        <p:nvSpPr>
          <p:cNvPr id="17" name="Region 西部" descr="role:category|scope=西部"/>
          <p:cNvSpPr txBox="1"/>
          <p:nvPr/>
        </p:nvSpPr>
        <p:spPr>
          <a:xfrm>
            <a:off x="720000" y="4390000"/>
            <a:ext cx="14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西部</a:t>
            </a:r>
            <a:endParaRPr lang="zh-CN" sz="1700"/>
          </a:p>
        </p:txBody>
      </p:sp>
      <p:sp>
        <p:nvSpPr>
          <p:cNvPr id="18" name="Plan bar 西部" descr="chart_bar|metric=revenue|scope=西部|series=plan|value=270|max=360"/>
          <p:cNvSpPr/>
          <p:nvPr/>
        </p:nvSpPr>
        <p:spPr>
          <a:xfrm>
            <a:off x="3250000" y="4390000"/>
            <a:ext cx="4950000" cy="190000"/>
          </a:xfrm>
          <a:prstGeom prst="roundRect">
            <a:avLst/>
          </a:prstGeom>
          <a:solidFill>
            <a:srgbClr val="B2CCFF"/>
          </a:solidFill>
          <a:ln>
            <a:noFill/>
          </a:ln>
        </p:spPr>
      </p:sp>
      <p:sp>
        <p:nvSpPr>
          <p:cNvPr id="19" name="Actual bar 西部" descr="chart_bar|metric=revenue|scope=西部|series=actual|value=240|max=360"/>
          <p:cNvSpPr/>
          <p:nvPr/>
        </p:nvSpPr>
        <p:spPr>
          <a:xfrm>
            <a:off x="3250000" y="4640000"/>
            <a:ext cx="4400000" cy="190000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20" name="Region value 西部" descr="role:chart_label|scope=西部"/>
          <p:cNvSpPr txBox="1"/>
          <p:nvPr/>
        </p:nvSpPr>
        <p:spPr>
          <a:xfrm>
            <a:off x="10050000" y="4370000"/>
            <a:ext cx="14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4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88.9%</a:t>
            </a:r>
            <a:endParaRPr lang="zh-CN" sz="1400"/>
          </a:p>
          <a:p>
            <a:pPr algn="r"/>
            <a:r>
              <a:rPr lang="zh-CN" sz="14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-30 万元</a:t>
            </a:r>
            <a:endParaRPr lang="zh-CN" sz="1400"/>
          </a:p>
        </p:txBody>
      </p:sp>
      <p:sp>
        <p:nvSpPr>
          <p:cNvPr id="21" name="Legend" descr="role:legend"/>
          <p:cNvSpPr txBox="1"/>
          <p:nvPr/>
        </p:nvSpPr>
        <p:spPr>
          <a:xfrm>
            <a:off x="3250000" y="5590000"/>
            <a:ext cx="5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300" dirty="0">
                <a:solidFill>
                  <a:srgbClr val="475467"/>
                </a:solidFill>
                <a:latin typeface="Noto Sans SC"/>
                <a:ea typeface="Noto Sans SC"/>
                <a:cs typeface="Noto Sans SC"/>
              </a:rPr>
              <a:t xml:space="preserve">浅蓝：计划　绿色：超过计划　红色：低于计划</a:t>
            </a:r>
            <a:endParaRPr lang="zh-CN" sz="1300"/>
          </a:p>
        </p:txBody>
      </p:sp>
      <p:sp>
        <p:nvSpPr>
          <p:cNvPr id="22" name="Gap" descr="role:evidence"/>
          <p:cNvSpPr txBox="1"/>
          <p:nvPr/>
        </p:nvSpPr>
        <p:spPr>
          <a:xfrm>
            <a:off x="8600000" y="5390000"/>
            <a:ext cx="2950000" cy="720000"/>
          </a:xfrm>
          <a:prstGeom prst="roundRect">
            <a:avLst/>
          </a:prstGeom>
          <a:solidFill>
            <a:srgbClr val="FEF3F2"/>
          </a:solidFill>
          <a:ln>
            <a:noFill/>
          </a:ln>
        </p:spPr>
        <p:txBody>
          <a:bodyPr wrap="square" lIns="80000" tIns="80000" rIns="80000" bIns="80000" anchor="ctr"/>
          <a:lstStyle/>
          <a:p>
            <a:pPr algn="l"/>
            <a:r>
              <a:rPr lang="zh-CN" sz="15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西部缺口 30 万元</a:t>
            </a:r>
            <a:endParaRPr lang="zh-CN" sz="1500"/>
          </a:p>
          <a:p>
            <a:pPr algn="l"/>
            <a:r>
              <a:rPr lang="zh-CN" sz="1500" b="1" dirty="0">
                <a:solidFill>
                  <a:srgbClr val="D92D20"/>
                </a:solidFill>
                <a:latin typeface="Noto Sans SC"/>
                <a:ea typeface="Noto Sans SC"/>
                <a:cs typeface="Noto Sans SC"/>
              </a:rPr>
              <a:t xml:space="preserve">华北缺口 24 万元</a:t>
            </a:r>
            <a:endParaRPr lang="zh-CN" sz="1500"/>
          </a:p>
        </p:txBody>
      </p:sp>
      <p:sp>
        <p:nvSpPr>
          <p:cNvPr id="23" name="Source" descr="role:source"/>
          <p:cNvSpPr txBox="1"/>
          <p:nvPr/>
        </p:nvSpPr>
        <p:spPr>
          <a:xfrm>
            <a:off x="650000" y="639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dirty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 xml:space="preserve">来源：metrics.csv（合成）；所有条形使用统一比例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交付延迟、退货上升和低毛利促销共同拖累结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 descr="role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" descr="role:title"/>
          <p:cNvSpPr txBox="1"/>
          <p:nvPr/>
        </p:nvSpPr>
        <p:spPr>
          <a:xfrm>
            <a:off x="620000" y="300000"/>
            <a:ext cx="109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2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交付延迟、退货上升和低毛利促销共同拖累结果</a:t>
            </a:r>
            <a:endParaRPr lang="zh-CN" sz="2800"/>
          </a:p>
        </p:txBody>
      </p:sp>
      <p:sp>
        <p:nvSpPr>
          <p:cNvPr id="4" name="Cause 1" descr="role:cause|index=1"/>
          <p:cNvSpPr txBox="1"/>
          <p:nvPr/>
        </p:nvSpPr>
        <p:spPr>
          <a:xfrm>
            <a:off x="670000" y="1250000"/>
            <a:ext cx="3280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2D20"/>
            </a:solidFill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西部交付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按时交付率 89.2%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影响确认收入 21 万元</a:t>
            </a:r>
            <a:endParaRPr lang="zh-CN" sz="1800"/>
          </a:p>
        </p:txBody>
      </p:sp>
      <p:sp>
        <p:nvSpPr>
          <p:cNvPr id="5" name="Arrow 1" descr="role:flow_arrow|index=1"/>
          <p:cNvSpPr/>
          <p:nvPr/>
        </p:nvSpPr>
        <p:spPr>
          <a:xfrm>
            <a:off x="1910000" y="3130000"/>
            <a:ext cx="800000" cy="420000"/>
          </a:xfrm>
          <a:prstGeom prst="down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6" name="Reason 1" descr="role:reason|index=1"/>
          <p:cNvSpPr txBox="1"/>
          <p:nvPr/>
        </p:nvSpPr>
        <p:spPr>
          <a:xfrm>
            <a:off x="670000" y="3750000"/>
            <a:ext cx="3280000" cy="900000"/>
          </a:xfrm>
          <a:prstGeom prst="roundRect">
            <a:avLst/>
          </a:prstGeom>
          <a:solidFill>
            <a:srgbClr val="D92D20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zh-CN" sz="1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供应链排班缺口</a:t>
            </a:r>
            <a:endParaRPr lang="zh-CN" sz="1700"/>
          </a:p>
        </p:txBody>
      </p:sp>
      <p:sp>
        <p:nvSpPr>
          <p:cNvPr id="7" name="Cause 2" descr="role:cause|index=2"/>
          <p:cNvSpPr txBox="1"/>
          <p:nvPr/>
        </p:nvSpPr>
        <p:spPr>
          <a:xfrm>
            <a:off x="4400000" y="1250000"/>
            <a:ext cx="3280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9009"/>
            </a:solidFill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华北退货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退货率 6.1%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毛利率承压 0.6 个百分点</a:t>
            </a:r>
            <a:endParaRPr lang="zh-CN" sz="1800"/>
          </a:p>
        </p:txBody>
      </p:sp>
      <p:sp>
        <p:nvSpPr>
          <p:cNvPr id="8" name="Arrow 2" descr="role:flow_arrow|index=2"/>
          <p:cNvSpPr/>
          <p:nvPr/>
        </p:nvSpPr>
        <p:spPr>
          <a:xfrm>
            <a:off x="5640000" y="3130000"/>
            <a:ext cx="800000" cy="420000"/>
          </a:xfrm>
          <a:prstGeom prst="downArrow">
            <a:avLst/>
          </a:prstGeom>
          <a:solidFill>
            <a:srgbClr val="F79009"/>
          </a:solidFill>
          <a:ln>
            <a:noFill/>
          </a:ln>
        </p:spPr>
      </p:sp>
      <p:sp>
        <p:nvSpPr>
          <p:cNvPr id="9" name="Reason 2" descr="role:reason|index=2"/>
          <p:cNvSpPr txBox="1"/>
          <p:nvPr/>
        </p:nvSpPr>
        <p:spPr>
          <a:xfrm>
            <a:off x="4400000" y="3750000"/>
            <a:ext cx="3280000" cy="900000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zh-CN" sz="1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包装强度不足</a:t>
            </a:r>
            <a:endParaRPr lang="zh-CN" sz="1700"/>
          </a:p>
        </p:txBody>
      </p:sp>
      <p:sp>
        <p:nvSpPr>
          <p:cNvPr id="10" name="Cause 3" descr="role:cause|index=3"/>
          <p:cNvSpPr txBox="1"/>
          <p:nvPr/>
        </p:nvSpPr>
        <p:spPr>
          <a:xfrm>
            <a:off x="8130000" y="1250000"/>
            <a:ext cx="3280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促销毛利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订单毛利率 31.8%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低于底线 2.2 个百分点</a:t>
            </a:r>
            <a:endParaRPr lang="zh-CN" sz="1800"/>
          </a:p>
        </p:txBody>
      </p:sp>
      <p:sp>
        <p:nvSpPr>
          <p:cNvPr id="11" name="Arrow 3" descr="role:flow_arrow|index=3"/>
          <p:cNvSpPr/>
          <p:nvPr/>
        </p:nvSpPr>
        <p:spPr>
          <a:xfrm>
            <a:off x="9370000" y="3130000"/>
            <a:ext cx="800000" cy="420000"/>
          </a:xfrm>
          <a:prstGeom prst="downArrow">
            <a:avLst/>
          </a:prstGeom>
          <a:solidFill>
            <a:srgbClr val="155EEF"/>
          </a:solidFill>
          <a:ln>
            <a:noFill/>
          </a:ln>
        </p:spPr>
      </p:sp>
      <p:sp>
        <p:nvSpPr>
          <p:cNvPr id="12" name="Reason 3" descr="role:reason|index=3"/>
          <p:cNvSpPr txBox="1"/>
          <p:nvPr/>
        </p:nvSpPr>
        <p:spPr>
          <a:xfrm>
            <a:off x="8130000" y="3750000"/>
            <a:ext cx="3280000" cy="900000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zh-CN" sz="1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六月促销组合偏低</a:t>
            </a:r>
            <a:endParaRPr lang="zh-CN" sz="1700"/>
          </a:p>
        </p:txBody>
      </p:sp>
      <p:sp>
        <p:nvSpPr>
          <p:cNvPr id="13" name="Evidence boundary" descr="role:boundary"/>
          <p:cNvSpPr txBox="1"/>
          <p:nvPr/>
        </p:nvSpPr>
        <p:spPr>
          <a:xfrm>
            <a:off x="670000" y="5080000"/>
            <a:ext cx="10720000" cy="820000"/>
          </a:xfrm>
          <a:prstGeom prst="roundRect">
            <a:avLst/>
          </a:prstGeom>
          <a:solidFill>
            <a:srgbClr val="EAECF0"/>
          </a:solidFill>
          <a:ln>
            <a:noFill/>
          </a:ln>
        </p:spPr>
        <p:txBody>
          <a:bodyPr wrap="square" lIns="180000" tIns="180000" rIns="180000" bIns="180000" anchor="ctr"/>
          <a:lstStyle/>
          <a:p>
            <a:pPr algn="l"/>
            <a:r>
              <a:rPr lang="zh-CN" sz="17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这些原因均来自报告已给出的事实；华东续约做法可复用，但材料未提供可量化的跨区收入预测。</a:t>
            </a:r>
            <a:endParaRPr lang="zh-CN" sz="1700"/>
          </a:p>
        </p:txBody>
      </p:sp>
      <p:sp>
        <p:nvSpPr>
          <p:cNvPr id="14" name="Source" descr="role:source"/>
          <p:cNvSpPr txBox="1"/>
          <p:nvPr/>
        </p:nvSpPr>
        <p:spPr>
          <a:xfrm>
            <a:off x="650000" y="639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dirty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 xml:space="preserve">来源：metrics.csv 与 report.md（合成）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先修复最大缺口，再把有效做法复制到其他区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 descr="role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" descr="role:title"/>
          <p:cNvSpPr txBox="1"/>
          <p:nvPr/>
        </p:nvSpPr>
        <p:spPr>
          <a:xfrm>
            <a:off x="620000" y="300000"/>
            <a:ext cx="109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2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先修复最大缺口，再把有效做法复制到其他区域</a:t>
            </a:r>
            <a:endParaRPr lang="zh-CN" sz="2800"/>
          </a:p>
        </p:txBody>
      </p:sp>
      <p:sp>
        <p:nvSpPr>
          <p:cNvPr id="4" name="Header 1" descr="role:table_header|column=1"/>
          <p:cNvSpPr txBox="1"/>
          <p:nvPr/>
        </p:nvSpPr>
        <p:spPr>
          <a:xfrm>
            <a:off x="650000" y="1160000"/>
            <a:ext cx="900000" cy="5200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优先级</a:t>
            </a:r>
            <a:endParaRPr lang="zh-CN" sz="1400"/>
          </a:p>
        </p:txBody>
      </p:sp>
      <p:sp>
        <p:nvSpPr>
          <p:cNvPr id="5" name="Header 2" descr="role:table_header|column=2"/>
          <p:cNvSpPr txBox="1"/>
          <p:nvPr/>
        </p:nvSpPr>
        <p:spPr>
          <a:xfrm>
            <a:off x="1550000" y="1160000"/>
            <a:ext cx="1200000" cy="5200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对象</a:t>
            </a:r>
            <a:endParaRPr lang="zh-CN" sz="1400"/>
          </a:p>
        </p:txBody>
      </p:sp>
      <p:sp>
        <p:nvSpPr>
          <p:cNvPr id="6" name="Header 3" descr="role:table_header|column=3"/>
          <p:cNvSpPr txBox="1"/>
          <p:nvPr/>
        </p:nvSpPr>
        <p:spPr>
          <a:xfrm>
            <a:off x="2750000" y="1160000"/>
            <a:ext cx="4050000" cy="5200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八周动作</a:t>
            </a:r>
            <a:endParaRPr lang="zh-CN" sz="1400"/>
          </a:p>
        </p:txBody>
      </p:sp>
      <p:sp>
        <p:nvSpPr>
          <p:cNvPr id="7" name="Header 4" descr="role:table_header|column=4"/>
          <p:cNvSpPr txBox="1"/>
          <p:nvPr/>
        </p:nvSpPr>
        <p:spPr>
          <a:xfrm>
            <a:off x="6800000" y="1160000"/>
            <a:ext cx="1650000" cy="5200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责任角色</a:t>
            </a:r>
            <a:endParaRPr lang="zh-CN" sz="1400"/>
          </a:p>
        </p:txBody>
      </p:sp>
      <p:sp>
        <p:nvSpPr>
          <p:cNvPr id="8" name="Header 5" descr="role:table_header|column=5"/>
          <p:cNvSpPr txBox="1"/>
          <p:nvPr/>
        </p:nvSpPr>
        <p:spPr>
          <a:xfrm>
            <a:off x="8450000" y="1160000"/>
            <a:ext cx="3000000" cy="5200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txBody>
          <a:bodyPr wrap="square" lIns="70000" tIns="70000" rIns="70000" bIns="7000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验收指标</a:t>
            </a:r>
            <a:endParaRPr lang="zh-CN" sz="1400"/>
          </a:p>
        </p:txBody>
      </p:sp>
      <p:sp>
        <p:nvSpPr>
          <p:cNvPr id="9" name="Cell 1-1" descr="role:table_cell|row=1|column=1"/>
          <p:cNvSpPr txBox="1"/>
          <p:nvPr/>
        </p:nvSpPr>
        <p:spPr>
          <a:xfrm>
            <a:off x="650000" y="168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1</a:t>
            </a:r>
            <a:endParaRPr lang="zh-CN" sz="1400"/>
          </a:p>
        </p:txBody>
      </p:sp>
      <p:sp>
        <p:nvSpPr>
          <p:cNvPr id="10" name="Cell 1-2" descr="role:table_cell|row=1|column=2"/>
          <p:cNvSpPr txBox="1"/>
          <p:nvPr/>
        </p:nvSpPr>
        <p:spPr>
          <a:xfrm>
            <a:off x="1550000" y="1680000"/>
            <a:ext cx="12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西部</a:t>
            </a:r>
            <a:endParaRPr lang="zh-CN" sz="1400"/>
          </a:p>
        </p:txBody>
      </p:sp>
      <p:sp>
        <p:nvSpPr>
          <p:cNvPr id="11" name="Cell 1-3" descr="role:table_cell|row=1|column=3"/>
          <p:cNvSpPr txBox="1"/>
          <p:nvPr/>
        </p:nvSpPr>
        <p:spPr>
          <a:xfrm>
            <a:off x="2750000" y="1680000"/>
            <a:ext cx="405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1—2 周补齐中转仓轮班</a:t>
            </a:r>
            <a:endParaRPr lang="zh-CN" sz="1400"/>
          </a:p>
        </p:txBody>
      </p:sp>
      <p:sp>
        <p:nvSpPr>
          <p:cNvPr id="12" name="Cell 1-4" descr="role:table_cell|row=1|column=4"/>
          <p:cNvSpPr txBox="1"/>
          <p:nvPr/>
        </p:nvSpPr>
        <p:spPr>
          <a:xfrm>
            <a:off x="6800000" y="1680000"/>
            <a:ext cx="165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供应链</a:t>
            </a:r>
            <a:endParaRPr lang="zh-CN" sz="1400"/>
          </a:p>
        </p:txBody>
      </p:sp>
      <p:sp>
        <p:nvSpPr>
          <p:cNvPr id="13" name="Cell 1-5" descr="role:table_cell|row=1|column=5"/>
          <p:cNvSpPr txBox="1"/>
          <p:nvPr/>
        </p:nvSpPr>
        <p:spPr>
          <a:xfrm>
            <a:off x="8450000" y="1680000"/>
            <a:ext cx="30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按时交付率 ≥ 94.0%</a:t>
            </a:r>
            <a:endParaRPr lang="zh-CN" sz="1400"/>
          </a:p>
        </p:txBody>
      </p:sp>
      <p:sp>
        <p:nvSpPr>
          <p:cNvPr id="14" name="Cell 2-1" descr="role:table_cell|row=2|column=1"/>
          <p:cNvSpPr txBox="1"/>
          <p:nvPr/>
        </p:nvSpPr>
        <p:spPr>
          <a:xfrm>
            <a:off x="650000" y="2500000"/>
            <a:ext cx="90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2</a:t>
            </a:r>
            <a:endParaRPr lang="zh-CN" sz="1400"/>
          </a:p>
        </p:txBody>
      </p:sp>
      <p:sp>
        <p:nvSpPr>
          <p:cNvPr id="15" name="Cell 2-2" descr="role:table_cell|row=2|column=2"/>
          <p:cNvSpPr txBox="1"/>
          <p:nvPr/>
        </p:nvSpPr>
        <p:spPr>
          <a:xfrm>
            <a:off x="1550000" y="2500000"/>
            <a:ext cx="120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华北</a:t>
            </a:r>
            <a:endParaRPr lang="zh-CN" sz="1400"/>
          </a:p>
        </p:txBody>
      </p:sp>
      <p:sp>
        <p:nvSpPr>
          <p:cNvPr id="16" name="Cell 2-3" descr="role:table_cell|row=2|column=3"/>
          <p:cNvSpPr txBox="1"/>
          <p:nvPr/>
        </p:nvSpPr>
        <p:spPr>
          <a:xfrm>
            <a:off x="2750000" y="2500000"/>
            <a:ext cx="405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1—4 周完成两款新品包装加固</a:t>
            </a:r>
            <a:endParaRPr lang="zh-CN" sz="1400"/>
          </a:p>
        </p:txBody>
      </p:sp>
      <p:sp>
        <p:nvSpPr>
          <p:cNvPr id="17" name="Cell 2-4" descr="role:table_cell|row=2|column=4"/>
          <p:cNvSpPr txBox="1"/>
          <p:nvPr/>
        </p:nvSpPr>
        <p:spPr>
          <a:xfrm>
            <a:off x="6800000" y="2500000"/>
            <a:ext cx="165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产品</a:t>
            </a:r>
            <a:endParaRPr lang="zh-CN" sz="1400"/>
          </a:p>
        </p:txBody>
      </p:sp>
      <p:sp>
        <p:nvSpPr>
          <p:cNvPr id="18" name="Cell 2-5" descr="role:table_cell|row=2|column=5"/>
          <p:cNvSpPr txBox="1"/>
          <p:nvPr/>
        </p:nvSpPr>
        <p:spPr>
          <a:xfrm>
            <a:off x="8450000" y="2500000"/>
            <a:ext cx="300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退货率 ≤ 4.5%</a:t>
            </a:r>
            <a:endParaRPr lang="zh-CN" sz="1400"/>
          </a:p>
        </p:txBody>
      </p:sp>
      <p:sp>
        <p:nvSpPr>
          <p:cNvPr id="19" name="Cell 3-1" descr="role:table_cell|row=3|column=1"/>
          <p:cNvSpPr txBox="1"/>
          <p:nvPr/>
        </p:nvSpPr>
        <p:spPr>
          <a:xfrm>
            <a:off x="650000" y="3320000"/>
            <a:ext cx="9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3</a:t>
            </a:r>
            <a:endParaRPr lang="zh-CN" sz="1400"/>
          </a:p>
        </p:txBody>
      </p:sp>
      <p:sp>
        <p:nvSpPr>
          <p:cNvPr id="20" name="Cell 3-2" descr="role:table_cell|row=3|column=2"/>
          <p:cNvSpPr txBox="1"/>
          <p:nvPr/>
        </p:nvSpPr>
        <p:spPr>
          <a:xfrm>
            <a:off x="1550000" y="3320000"/>
            <a:ext cx="12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促销</a:t>
            </a:r>
            <a:endParaRPr lang="zh-CN" sz="1400"/>
          </a:p>
        </p:txBody>
      </p:sp>
      <p:sp>
        <p:nvSpPr>
          <p:cNvPr id="21" name="Cell 3-3" descr="role:table_cell|row=3|column=3"/>
          <p:cNvSpPr txBox="1"/>
          <p:nvPr/>
        </p:nvSpPr>
        <p:spPr>
          <a:xfrm>
            <a:off x="2750000" y="3320000"/>
            <a:ext cx="405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3—8 周联合审核促销清单</a:t>
            </a:r>
            <a:endParaRPr lang="zh-CN" sz="1400"/>
          </a:p>
        </p:txBody>
      </p:sp>
      <p:sp>
        <p:nvSpPr>
          <p:cNvPr id="22" name="Cell 3-4" descr="role:table_cell|row=3|column=4"/>
          <p:cNvSpPr txBox="1"/>
          <p:nvPr/>
        </p:nvSpPr>
        <p:spPr>
          <a:xfrm>
            <a:off x="6800000" y="3320000"/>
            <a:ext cx="165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销售＋财务</a:t>
            </a:r>
            <a:endParaRPr lang="zh-CN" sz="1400"/>
          </a:p>
        </p:txBody>
      </p:sp>
      <p:sp>
        <p:nvSpPr>
          <p:cNvPr id="23" name="Cell 3-5" descr="role:table_cell|row=3|column=5"/>
          <p:cNvSpPr txBox="1"/>
          <p:nvPr/>
        </p:nvSpPr>
        <p:spPr>
          <a:xfrm>
            <a:off x="8450000" y="3320000"/>
            <a:ext cx="3000000" cy="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订单毛利率 ≥ 34.0%</a:t>
            </a:r>
            <a:endParaRPr lang="zh-CN" sz="1400"/>
          </a:p>
        </p:txBody>
      </p:sp>
      <p:sp>
        <p:nvSpPr>
          <p:cNvPr id="24" name="Cell 4-1" descr="role:table_cell|row=4|column=1"/>
          <p:cNvSpPr txBox="1"/>
          <p:nvPr/>
        </p:nvSpPr>
        <p:spPr>
          <a:xfrm>
            <a:off x="650000" y="4140000"/>
            <a:ext cx="90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4</a:t>
            </a:r>
            <a:endParaRPr lang="zh-CN" sz="1400"/>
          </a:p>
        </p:txBody>
      </p:sp>
      <p:sp>
        <p:nvSpPr>
          <p:cNvPr id="25" name="Cell 4-2" descr="role:table_cell|row=4|column=2"/>
          <p:cNvSpPr txBox="1"/>
          <p:nvPr/>
        </p:nvSpPr>
        <p:spPr>
          <a:xfrm>
            <a:off x="1550000" y="4140000"/>
            <a:ext cx="120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华东</a:t>
            </a:r>
            <a:endParaRPr lang="zh-CN" sz="1400"/>
          </a:p>
        </p:txBody>
      </p:sp>
      <p:sp>
        <p:nvSpPr>
          <p:cNvPr id="26" name="Cell 4-3" descr="role:table_cell|row=4|column=3"/>
          <p:cNvSpPr txBox="1"/>
          <p:nvPr/>
        </p:nvSpPr>
        <p:spPr>
          <a:xfrm>
            <a:off x="2750000" y="4140000"/>
            <a:ext cx="405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提炼重点客户续约动作供跨区复用</a:t>
            </a:r>
            <a:endParaRPr lang="zh-CN" sz="1400"/>
          </a:p>
        </p:txBody>
      </p:sp>
      <p:sp>
        <p:nvSpPr>
          <p:cNvPr id="27" name="Cell 4-4" descr="role:table_cell|row=4|column=4"/>
          <p:cNvSpPr txBox="1"/>
          <p:nvPr/>
        </p:nvSpPr>
        <p:spPr>
          <a:xfrm>
            <a:off x="6800000" y="4140000"/>
            <a:ext cx="165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ctr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区域销售</a:t>
            </a:r>
            <a:endParaRPr lang="zh-CN" sz="1400"/>
          </a:p>
        </p:txBody>
      </p:sp>
      <p:sp>
        <p:nvSpPr>
          <p:cNvPr id="28" name="Cell 4-5" descr="role:table_cell|row=4|column=5"/>
          <p:cNvSpPr txBox="1"/>
          <p:nvPr/>
        </p:nvSpPr>
        <p:spPr>
          <a:xfrm>
            <a:off x="8450000" y="4140000"/>
            <a:ext cx="3000000" cy="82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 wrap="square" lIns="90000" tIns="90000" rIns="90000" bIns="90000" anchor="ctr"/>
          <a:lstStyle/>
          <a:p>
            <a:pPr algn="l"/>
            <a:r>
              <a:rPr lang="zh-CN" sz="1400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只复用做法，不补造预测</a:t>
            </a:r>
            <a:endParaRPr lang="zh-CN" sz="1400"/>
          </a:p>
        </p:txBody>
      </p:sp>
      <p:sp>
        <p:nvSpPr>
          <p:cNvPr id="29" name="Priority evidence" descr="role:evidence"/>
          <p:cNvSpPr txBox="1"/>
          <p:nvPr/>
        </p:nvSpPr>
        <p:spPr>
          <a:xfrm>
            <a:off x="650000" y="5200000"/>
            <a:ext cx="10800000" cy="730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155EEF"/>
            </a:solidFill>
          </a:ln>
        </p:spPr>
        <p:txBody>
          <a:bodyPr wrap="square" lIns="150000" tIns="150000" rIns="150000" bIns="15000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排序依据：三个负缺口区域中，西部占 41.7%，华北占 33.3%，华南占 25.0%。</a:t>
            </a:r>
            <a:endParaRPr lang="zh-CN" sz="1700"/>
          </a:p>
        </p:txBody>
      </p:sp>
      <p:sp>
        <p:nvSpPr>
          <p:cNvPr id="30" name="Source" descr="role:source"/>
          <p:cNvSpPr txBox="1"/>
          <p:nvPr/>
        </p:nvSpPr>
        <p:spPr>
          <a:xfrm>
            <a:off x="650000" y="639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dirty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 xml:space="preserve">来源：metrics.csv 与 report.md（合成）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八周只跟踪四项指标，每两周复盘一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 descr="role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" descr="role:title"/>
          <p:cNvSpPr txBox="1"/>
          <p:nvPr/>
        </p:nvSpPr>
        <p:spPr>
          <a:xfrm>
            <a:off x="620000" y="300000"/>
            <a:ext cx="109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2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八周只跟踪四项指标，每两周复盘一次</a:t>
            </a:r>
            <a:endParaRPr lang="zh-CN" sz="2800"/>
          </a:p>
        </p:txBody>
      </p:sp>
      <p:sp>
        <p:nvSpPr>
          <p:cNvPr id="4" name="Timeline" descr="role:timeline"/>
          <p:cNvSpPr/>
          <p:nvPr/>
        </p:nvSpPr>
        <p:spPr>
          <a:xfrm>
            <a:off x="1150000" y="1820000"/>
            <a:ext cx="9400000" cy="55000"/>
          </a:xfrm>
          <a:prstGeom prst="rect">
            <a:avLst/>
          </a:prstGeom>
          <a:solidFill>
            <a:srgbClr val="98A2B3"/>
          </a:solidFill>
          <a:ln>
            <a:noFill/>
          </a:ln>
        </p:spPr>
      </p:sp>
      <p:sp>
        <p:nvSpPr>
          <p:cNvPr id="5" name="Milestone 1" descr="role:milestone|index=1"/>
          <p:cNvSpPr/>
          <p:nvPr/>
        </p:nvSpPr>
        <p:spPr>
          <a:xfrm>
            <a:off x="1020000" y="1690000"/>
            <a:ext cx="260000" cy="260000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</p:sp>
      <p:sp>
        <p:nvSpPr>
          <p:cNvPr id="6" name="Milestone label 1" descr="role:milestone_label|index=1"/>
          <p:cNvSpPr txBox="1"/>
          <p:nvPr/>
        </p:nvSpPr>
        <p:spPr>
          <a:xfrm>
            <a:off x="630000" y="2070000"/>
            <a:ext cx="104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启动</a:t>
            </a:r>
            <a:endParaRPr lang="zh-CN" sz="1400"/>
          </a:p>
        </p:txBody>
      </p:sp>
      <p:sp>
        <p:nvSpPr>
          <p:cNvPr id="7" name="Milestone 2" descr="role:milestone|index=2"/>
          <p:cNvSpPr/>
          <p:nvPr/>
        </p:nvSpPr>
        <p:spPr>
          <a:xfrm>
            <a:off x="3370000" y="1690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</p:sp>
      <p:sp>
        <p:nvSpPr>
          <p:cNvPr id="8" name="Milestone label 2" descr="role:milestone_label|index=2"/>
          <p:cNvSpPr txBox="1"/>
          <p:nvPr/>
        </p:nvSpPr>
        <p:spPr>
          <a:xfrm>
            <a:off x="2980000" y="2070000"/>
            <a:ext cx="104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2 周</a:t>
            </a:r>
            <a:endParaRPr lang="zh-CN" sz="1400"/>
          </a:p>
        </p:txBody>
      </p:sp>
      <p:sp>
        <p:nvSpPr>
          <p:cNvPr id="9" name="Milestone 3" descr="role:milestone|index=3"/>
          <p:cNvSpPr/>
          <p:nvPr/>
        </p:nvSpPr>
        <p:spPr>
          <a:xfrm>
            <a:off x="5720000" y="1690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</p:sp>
      <p:sp>
        <p:nvSpPr>
          <p:cNvPr id="10" name="Milestone label 3" descr="role:milestone_label|index=3"/>
          <p:cNvSpPr txBox="1"/>
          <p:nvPr/>
        </p:nvSpPr>
        <p:spPr>
          <a:xfrm>
            <a:off x="5330000" y="2070000"/>
            <a:ext cx="104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4 周</a:t>
            </a:r>
            <a:endParaRPr lang="zh-CN" sz="1400"/>
          </a:p>
        </p:txBody>
      </p:sp>
      <p:sp>
        <p:nvSpPr>
          <p:cNvPr id="11" name="Milestone 4" descr="role:milestone|index=4"/>
          <p:cNvSpPr/>
          <p:nvPr/>
        </p:nvSpPr>
        <p:spPr>
          <a:xfrm>
            <a:off x="8070000" y="1690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</p:sp>
      <p:sp>
        <p:nvSpPr>
          <p:cNvPr id="12" name="Milestone label 4" descr="role:milestone_label|index=4"/>
          <p:cNvSpPr txBox="1"/>
          <p:nvPr/>
        </p:nvSpPr>
        <p:spPr>
          <a:xfrm>
            <a:off x="7680000" y="2070000"/>
            <a:ext cx="104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6 周</a:t>
            </a:r>
            <a:endParaRPr lang="zh-CN" sz="1400"/>
          </a:p>
        </p:txBody>
      </p:sp>
      <p:sp>
        <p:nvSpPr>
          <p:cNvPr id="13" name="Milestone 5" descr="role:milestone|index=5"/>
          <p:cNvSpPr/>
          <p:nvPr/>
        </p:nvSpPr>
        <p:spPr>
          <a:xfrm>
            <a:off x="10420000" y="1690000"/>
            <a:ext cx="260000" cy="260000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</a:ln>
        </p:spPr>
      </p:sp>
      <p:sp>
        <p:nvSpPr>
          <p:cNvPr id="14" name="Milestone label 5" descr="role:milestone_label|index=5"/>
          <p:cNvSpPr txBox="1"/>
          <p:nvPr/>
        </p:nvSpPr>
        <p:spPr>
          <a:xfrm>
            <a:off x="10030000" y="2070000"/>
            <a:ext cx="104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第 8 周</a:t>
            </a:r>
            <a:endParaRPr lang="zh-CN" sz="1400"/>
          </a:p>
        </p:txBody>
      </p:sp>
      <p:sp>
        <p:nvSpPr>
          <p:cNvPr id="15" name="Tracking 1" descr="role:tracking_metric|index=1"/>
          <p:cNvSpPr txBox="1"/>
          <p:nvPr/>
        </p:nvSpPr>
        <p:spPr>
          <a:xfrm>
            <a:off x="700000" y="3020000"/>
            <a:ext cx="5100000" cy="8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txBody>
          <a:bodyPr wrap="square" lIns="130000" tIns="130000" rIns="130000" bIns="13000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收入完成率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当前 95.5%</a:t>
            </a:r>
            <a:endParaRPr lang="zh-CN" sz="1700"/>
          </a:p>
        </p:txBody>
      </p:sp>
      <p:sp>
        <p:nvSpPr>
          <p:cNvPr id="16" name="Tracking 2" descr="role:tracking_metric|index=2"/>
          <p:cNvSpPr txBox="1"/>
          <p:nvPr/>
        </p:nvSpPr>
        <p:spPr>
          <a:xfrm>
            <a:off x="6350000" y="3020000"/>
            <a:ext cx="5100000" cy="8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2D20"/>
            </a:solidFill>
          </a:ln>
        </p:spPr>
        <p:txBody>
          <a:bodyPr wrap="square" lIns="130000" tIns="130000" rIns="130000" bIns="13000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按时交付率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当前 92.8%</a:t>
            </a:r>
            <a:endParaRPr lang="zh-CN" sz="1700"/>
          </a:p>
        </p:txBody>
      </p:sp>
      <p:sp>
        <p:nvSpPr>
          <p:cNvPr id="17" name="Tracking 3" descr="role:tracking_metric|index=3"/>
          <p:cNvSpPr txBox="1"/>
          <p:nvPr/>
        </p:nvSpPr>
        <p:spPr>
          <a:xfrm>
            <a:off x="700000" y="4180000"/>
            <a:ext cx="5100000" cy="8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9009"/>
            </a:solidFill>
          </a:ln>
        </p:spPr>
        <p:txBody>
          <a:bodyPr wrap="square" lIns="130000" tIns="130000" rIns="130000" bIns="13000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退货率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当前 5.2%</a:t>
            </a:r>
            <a:endParaRPr lang="zh-CN" sz="1700"/>
          </a:p>
        </p:txBody>
      </p:sp>
      <p:sp>
        <p:nvSpPr>
          <p:cNvPr id="18" name="Tracking 4" descr="role:tracking_metric|index=4"/>
          <p:cNvSpPr txBox="1"/>
          <p:nvPr/>
        </p:nvSpPr>
        <p:spPr>
          <a:xfrm>
            <a:off x="6350000" y="4180000"/>
            <a:ext cx="5100000" cy="8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39855"/>
            </a:solidFill>
          </a:ln>
        </p:spPr>
        <p:txBody>
          <a:bodyPr wrap="square" lIns="130000" tIns="130000" rIns="130000" bIns="130000" anchor="ctr"/>
          <a:lstStyle/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促销订单毛利率</a:t>
            </a:r>
            <a:endParaRPr lang="zh-CN" sz="1700"/>
          </a:p>
          <a:p>
            <a:pPr algn="l"/>
            <a:r>
              <a:rPr lang="zh-CN" sz="17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当前 31.8%</a:t>
            </a:r>
            <a:endParaRPr lang="zh-CN" sz="1700"/>
          </a:p>
        </p:txBody>
      </p:sp>
      <p:sp>
        <p:nvSpPr>
          <p:cNvPr id="19" name="Cadence" descr="role:cadence"/>
          <p:cNvSpPr txBox="1"/>
          <p:nvPr/>
        </p:nvSpPr>
        <p:spPr>
          <a:xfrm>
            <a:off x="700000" y="5500000"/>
            <a:ext cx="10750000" cy="500000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txBody>
          <a:bodyPr wrap="square" lIns="100000" tIns="100000" rIns="100000" bIns="100000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复盘节奏：第 2、4、6、8 周各复盘一次；不以预测值替代实际结果。</a:t>
            </a:r>
            <a:endParaRPr lang="zh-CN" sz="1600"/>
          </a:p>
        </p:txBody>
      </p:sp>
      <p:sp>
        <p:nvSpPr>
          <p:cNvPr id="20" name="Source" descr="role:source"/>
          <p:cNvSpPr txBox="1"/>
          <p:nvPr/>
        </p:nvSpPr>
        <p:spPr>
          <a:xfrm>
            <a:off x="650000" y="639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dirty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 xml:space="preserve">来源：metrics.csv 与 report.md（合成）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今天确认责任人与复盘节奏，八周行动即可开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 descr="role: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" descr="role:title"/>
          <p:cNvSpPr txBox="1"/>
          <p:nvPr/>
        </p:nvSpPr>
        <p:spPr>
          <a:xfrm>
            <a:off x="620000" y="300000"/>
            <a:ext cx="109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20000" rIns="20000" bIns="20000" anchor="ctr"/>
          <a:lstStyle/>
          <a:p>
            <a:pPr algn="l"/>
            <a:r>
              <a:rPr lang="zh-CN" sz="2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今天确认责任人与复盘节奏，八周行动即可开始</a:t>
            </a:r>
            <a:endParaRPr lang="zh-CN" sz="2800"/>
          </a:p>
        </p:txBody>
      </p:sp>
      <p:sp>
        <p:nvSpPr>
          <p:cNvPr id="4" name="Decision number 1" descr="role:decision_number|index=1"/>
          <p:cNvSpPr/>
          <p:nvPr/>
        </p:nvSpPr>
        <p:spPr>
          <a:xfrm>
            <a:off x="740000" y="1360000"/>
            <a:ext cx="620000" cy="62000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</p:sp>
      <p:sp>
        <p:nvSpPr>
          <p:cNvPr id="5" name="Decision index 1" descr="role:decision_index|index=1"/>
          <p:cNvSpPr txBox="1"/>
          <p:nvPr/>
        </p:nvSpPr>
        <p:spPr>
          <a:xfrm>
            <a:off x="740000" y="136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1</a:t>
            </a:r>
            <a:endParaRPr lang="zh-CN" sz="2000"/>
          </a:p>
        </p:txBody>
      </p:sp>
      <p:sp>
        <p:nvSpPr>
          <p:cNvPr id="6" name="Decision 1" descr="role:decision|index=1"/>
          <p:cNvSpPr txBox="1"/>
          <p:nvPr/>
        </p:nvSpPr>
        <p:spPr>
          <a:xfrm>
            <a:off x="1650000" y="1250000"/>
            <a:ext cx="970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5EEF"/>
            </a:solidFill>
          </a:ln>
        </p:spPr>
        <p:txBody>
          <a:bodyPr wrap="square" lIns="140000" tIns="140000" rIns="140000" bIns="140000" anchor="ctr"/>
          <a:lstStyle/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确认四类责任人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供应链、产品、销售、财务</a:t>
            </a:r>
            <a:endParaRPr lang="zh-CN" sz="1800"/>
          </a:p>
        </p:txBody>
      </p:sp>
      <p:sp>
        <p:nvSpPr>
          <p:cNvPr id="7" name="Decision number 2" descr="role:decision_number|index=2"/>
          <p:cNvSpPr/>
          <p:nvPr/>
        </p:nvSpPr>
        <p:spPr>
          <a:xfrm>
            <a:off x="740000" y="2740000"/>
            <a:ext cx="620000" cy="620000"/>
          </a:xfrm>
          <a:prstGeom prst="ellipse">
            <a:avLst/>
          </a:prstGeom>
          <a:solidFill>
            <a:srgbClr val="F79009"/>
          </a:solidFill>
          <a:ln>
            <a:noFill/>
          </a:ln>
        </p:spPr>
      </p:sp>
      <p:sp>
        <p:nvSpPr>
          <p:cNvPr id="8" name="Decision index 2" descr="role:decision_index|index=2"/>
          <p:cNvSpPr txBox="1"/>
          <p:nvPr/>
        </p:nvSpPr>
        <p:spPr>
          <a:xfrm>
            <a:off x="740000" y="274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2</a:t>
            </a:r>
            <a:endParaRPr lang="zh-CN" sz="2000"/>
          </a:p>
        </p:txBody>
      </p:sp>
      <p:sp>
        <p:nvSpPr>
          <p:cNvPr id="9" name="Decision 2" descr="role:decision|index=2"/>
          <p:cNvSpPr txBox="1"/>
          <p:nvPr/>
        </p:nvSpPr>
        <p:spPr>
          <a:xfrm>
            <a:off x="1650000" y="2630000"/>
            <a:ext cx="970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79009"/>
            </a:solidFill>
          </a:ln>
        </p:spPr>
        <p:txBody>
          <a:bodyPr wrap="square" lIns="140000" tIns="140000" rIns="140000" bIns="140000" anchor="ctr"/>
          <a:lstStyle/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确认复盘节奏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每两周一次，共四次复盘</a:t>
            </a:r>
            <a:endParaRPr lang="zh-CN" sz="1800"/>
          </a:p>
        </p:txBody>
      </p:sp>
      <p:sp>
        <p:nvSpPr>
          <p:cNvPr id="10" name="Decision number 3" descr="role:decision_number|index=3"/>
          <p:cNvSpPr/>
          <p:nvPr/>
        </p:nvSpPr>
        <p:spPr>
          <a:xfrm>
            <a:off x="740000" y="4120000"/>
            <a:ext cx="620000" cy="620000"/>
          </a:xfrm>
          <a:prstGeom prst="ellipse">
            <a:avLst/>
          </a:prstGeom>
          <a:solidFill>
            <a:srgbClr val="039855"/>
          </a:solidFill>
          <a:ln>
            <a:noFill/>
          </a:ln>
        </p:spPr>
      </p:sp>
      <p:sp>
        <p:nvSpPr>
          <p:cNvPr id="11" name="Decision index 3" descr="role:decision_index|index=3"/>
          <p:cNvSpPr txBox="1"/>
          <p:nvPr/>
        </p:nvSpPr>
        <p:spPr>
          <a:xfrm>
            <a:off x="740000" y="4120000"/>
            <a:ext cx="6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3</a:t>
            </a:r>
            <a:endParaRPr lang="zh-CN" sz="2000"/>
          </a:p>
        </p:txBody>
      </p:sp>
      <p:sp>
        <p:nvSpPr>
          <p:cNvPr id="12" name="Decision 3" descr="role:decision|index=3"/>
          <p:cNvSpPr txBox="1"/>
          <p:nvPr/>
        </p:nvSpPr>
        <p:spPr>
          <a:xfrm>
            <a:off x="1650000" y="4010000"/>
            <a:ext cx="9700000" cy="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39855"/>
            </a:solidFill>
          </a:ln>
        </p:spPr>
        <p:txBody>
          <a:bodyPr wrap="square" lIns="140000" tIns="140000" rIns="140000" bIns="140000" anchor="ctr"/>
          <a:lstStyle/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确认三项门槛</a:t>
            </a:r>
            <a:endParaRPr lang="zh-CN" sz="1800"/>
          </a:p>
          <a:p>
            <a:pPr algn="l"/>
            <a:r>
              <a:rPr lang="zh-CN" sz="1800" b="1" dirty="0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 xml:space="preserve">西部交付 ≥ 94.0%｜华北退货 ≤ 4.5%｜促销毛利 ≥ 34.0%</a:t>
            </a:r>
            <a:endParaRPr lang="zh-CN" sz="1800"/>
          </a:p>
        </p:txBody>
      </p:sp>
      <p:sp>
        <p:nvSpPr>
          <p:cNvPr id="13" name="Close" descr="role:conclusion"/>
          <p:cNvSpPr txBox="1"/>
          <p:nvPr/>
        </p:nvSpPr>
        <p:spPr>
          <a:xfrm>
            <a:off x="740000" y="5540000"/>
            <a:ext cx="10610000" cy="560000"/>
          </a:xfrm>
          <a:prstGeom prst="roundRect">
            <a:avLst/>
          </a:prstGeom>
          <a:solidFill>
            <a:srgbClr val="155EEF"/>
          </a:solidFill>
          <a:ln>
            <a:noFill/>
          </a:ln>
        </p:spPr>
        <p:txBody>
          <a:bodyPr wrap="square" lIns="120000" tIns="120000" rIns="120000" bIns="120000" anchor="ctr"/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确认后按第 1 周计划启动；后续只用实际指标判断进展。</a:t>
            </a:r>
            <a:endParaRPr lang="zh-CN" sz="1800"/>
          </a:p>
        </p:txBody>
      </p:sp>
      <p:sp>
        <p:nvSpPr>
          <p:cNvPr id="14" name="Source" descr="role:source"/>
          <p:cNvSpPr txBox="1"/>
          <p:nvPr/>
        </p:nvSpPr>
        <p:spPr>
          <a:xfrm>
            <a:off x="650000" y="639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dirty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 xml:space="preserve">来源：metrics.csv 与 report.md（合成）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e_05">
  <a:themeElements>
    <a:clrScheme name="case_05">
      <a:dk1>
        <a:srgbClr val="101828"/>
      </a:dk1>
      <a:lt1>
        <a:srgbClr val="FFFFFF"/>
      </a:lt1>
      <a:dk2>
        <a:srgbClr val="344054"/>
      </a:dk2>
      <a:lt2>
        <a:srgbClr val="F8FAFC"/>
      </a:lt2>
      <a:accent1>
        <a:srgbClr val="155EEF"/>
      </a:accent1>
      <a:accent2>
        <a:srgbClr val="F79009"/>
      </a:accent2>
      <a:accent3>
        <a:srgbClr val="039855"/>
      </a:accent3>
      <a:accent4>
        <a:srgbClr val="D92D20"/>
      </a:accent4>
      <a:accent5>
        <a:srgbClr val="667085"/>
      </a:accent5>
      <a:accent6>
        <a:srgbClr val="B2CCFF"/>
      </a:accent6>
      <a:hlink>
        <a:srgbClr val="0000FF"/>
      </a:hlink>
      <a:folHlink>
        <a:srgbClr val="800080"/>
      </a:folHlink>
    </a:clrScheme>
    <a:fontScheme name="case_05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ase_05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case_05 OOXML builder</Application>
  <PresentationFormat>宽屏</PresentationFormat>
  <Slides>6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星桥家居 2026 年第二季度经营复盘</dc:title>
  <dc:creator>case_05 deterministic oracle</dc:creator>
  <cp:lastModifiedBy>case_05 deterministic oracle</cp:lastModifiedBy>
  <dcterms:created xsi:type="dcterms:W3CDTF">2026-07-01T01:00:00Z</dcterms:created>
  <dcterms:modified xsi:type="dcterms:W3CDTF">2026-07-01T01:00:00Z</dcterms:modified>
  <cp:revision>1</cp:revision>
</cp:coreProperties>
</file>